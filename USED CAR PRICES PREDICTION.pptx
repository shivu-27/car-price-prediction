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20" r:id="rId6"/>
    <p:sldId id="309" r:id="rId7"/>
    <p:sldId id="310" r:id="rId8"/>
    <p:sldId id="311" r:id="rId9"/>
    <p:sldId id="323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1" r:id="rId19"/>
    <p:sldId id="322" r:id="rId20"/>
    <p:sldId id="324" r:id="rId21"/>
    <p:sldId id="327" r:id="rId22"/>
    <p:sldId id="325" r:id="rId23"/>
    <p:sldId id="32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46" d="100"/>
          <a:sy n="46" d="100"/>
        </p:scale>
        <p:origin x="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639097"/>
            <a:ext cx="5447072" cy="3494791"/>
          </a:xfrm>
        </p:spPr>
        <p:txBody>
          <a:bodyPr>
            <a:normAutofit/>
          </a:bodyPr>
          <a:lstStyle/>
          <a:p>
            <a:r>
              <a:rPr lang="en-US" sz="5400" dirty="0"/>
              <a:t>Predicting used car prices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dirty="0"/>
              <a:t>By </a:t>
            </a:r>
            <a:r>
              <a:rPr lang="en-US" dirty="0" err="1"/>
              <a:t>sivagami</a:t>
            </a:r>
            <a:r>
              <a:rPr lang="en-US" dirty="0"/>
              <a:t> 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D268-B97A-4632-9304-055B2DC0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C19D5-7437-05C2-3669-61AC818BF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Objective: Predict fair market price using ML</a:t>
            </a:r>
          </a:p>
          <a:p>
            <a:r>
              <a:rPr lang="en-US" dirty="0"/>
              <a:t>By analyzing historical used car data, the project aims to: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Identify the most influential factors affecting used car prices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Provide accurate and data-driven pricing recommendations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Assist buyers, sellers, and dealers in making informed pricing decisions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47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8862A-5C22-C225-6B6A-442CAD877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E4CCC-D070-56C4-84AE-D4843080E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Rows:</a:t>
            </a:r>
            <a:r>
              <a:rPr lang="en-IN" dirty="0"/>
              <a:t> 1064                         </a:t>
            </a:r>
            <a:r>
              <a:rPr lang="en-IN" b="1" dirty="0"/>
              <a:t>Columns:</a:t>
            </a:r>
            <a:r>
              <a:rPr lang="en-IN" dirty="0"/>
              <a:t> 19                </a:t>
            </a:r>
            <a:r>
              <a:rPr lang="en-IN" b="1" dirty="0"/>
              <a:t>Target Variable</a:t>
            </a:r>
            <a:r>
              <a:rPr lang="en-IN" dirty="0"/>
              <a:t>: Price</a:t>
            </a:r>
          </a:p>
          <a:p>
            <a:r>
              <a:rPr lang="en-IN" b="1" dirty="0"/>
              <a:t>Features:</a:t>
            </a:r>
          </a:p>
          <a:p>
            <a:r>
              <a:rPr lang="en-IN" dirty="0"/>
              <a:t>Company       </a:t>
            </a:r>
            <a:r>
              <a:rPr lang="en-IN" dirty="0" err="1"/>
              <a:t>Kilometer</a:t>
            </a:r>
            <a:r>
              <a:rPr lang="en-IN" dirty="0"/>
              <a:t>                   </a:t>
            </a:r>
            <a:r>
              <a:rPr lang="en-IN" dirty="0" err="1"/>
              <a:t>CngKit</a:t>
            </a:r>
            <a:r>
              <a:rPr lang="en-IN" dirty="0"/>
              <a:t>             City </a:t>
            </a:r>
          </a:p>
          <a:p>
            <a:r>
              <a:rPr lang="en-IN" dirty="0"/>
              <a:t> Model          </a:t>
            </a:r>
            <a:r>
              <a:rPr lang="en-IN" dirty="0" err="1"/>
              <a:t>BodyStyle</a:t>
            </a:r>
            <a:r>
              <a:rPr lang="en-IN" dirty="0"/>
              <a:t>                   Price               Warranty </a:t>
            </a:r>
          </a:p>
          <a:p>
            <a:pPr marL="0" indent="0">
              <a:buNone/>
            </a:pPr>
            <a:r>
              <a:rPr lang="en-IN" dirty="0"/>
              <a:t>  Variant         </a:t>
            </a:r>
            <a:r>
              <a:rPr lang="en-IN" dirty="0" err="1"/>
              <a:t>TransmissionType</a:t>
            </a:r>
            <a:r>
              <a:rPr lang="en-IN" dirty="0"/>
              <a:t>          Owner             </a:t>
            </a:r>
            <a:r>
              <a:rPr lang="en-IN" dirty="0" err="1"/>
              <a:t>QualityScore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FuelType</a:t>
            </a:r>
            <a:r>
              <a:rPr lang="en-IN" dirty="0"/>
              <a:t>        </a:t>
            </a:r>
            <a:r>
              <a:rPr lang="en-IN" dirty="0" err="1"/>
              <a:t>ManufactureDate</a:t>
            </a:r>
            <a:r>
              <a:rPr lang="en-IN" dirty="0"/>
              <a:t>          </a:t>
            </a:r>
            <a:r>
              <a:rPr lang="en-IN" dirty="0" err="1"/>
              <a:t>DealerState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Colour            </a:t>
            </a:r>
            <a:r>
              <a:rPr lang="en-IN" dirty="0" err="1"/>
              <a:t>ModelYear</a:t>
            </a:r>
            <a:r>
              <a:rPr lang="en-IN" dirty="0"/>
              <a:t>                  </a:t>
            </a:r>
            <a:r>
              <a:rPr lang="en-IN" dirty="0" err="1"/>
              <a:t>DealerName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815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91897-84C4-F3D6-BC17-69DD25C1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68990"/>
            <a:ext cx="10058400" cy="960306"/>
          </a:xfrm>
        </p:spPr>
        <p:txBody>
          <a:bodyPr/>
          <a:lstStyle/>
          <a:p>
            <a:r>
              <a:rPr lang="en-US" dirty="0"/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26660-D3C9-52E4-15B2-48956B81C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Checked for missing values</a:t>
            </a:r>
            <a:br>
              <a:rPr lang="en-US" dirty="0"/>
            </a:br>
            <a:r>
              <a:rPr lang="en-US" dirty="0"/>
              <a:t>filled missing values in “ Transmission type” with mode</a:t>
            </a:r>
            <a:br>
              <a:rPr lang="en-US" dirty="0"/>
            </a:br>
            <a:r>
              <a:rPr lang="en-US" dirty="0"/>
              <a:t>filled missing values in “</a:t>
            </a:r>
            <a:r>
              <a:rPr lang="en-US" dirty="0" err="1"/>
              <a:t>CngKit</a:t>
            </a:r>
            <a:r>
              <a:rPr lang="en-US" dirty="0"/>
              <a:t>” with No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Changed target column ‘ Price’ to numeric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Encoded categorical variables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Dropped non informative columns( ID, </a:t>
            </a:r>
            <a:r>
              <a:rPr lang="en-US" dirty="0" err="1"/>
              <a:t>DealerName</a:t>
            </a:r>
            <a:r>
              <a:rPr lang="en-US" dirty="0"/>
              <a:t>, Model, Variant)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24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702E-2D57-842F-DA00-45DD151C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EC0F2-8F87-B3EC-B7C1-DF37428E9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Converted date column to datetime format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Created feature car 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7310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EE4A5-AF7D-691E-56B4-6095B03E7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scaling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BFDC3-F8EE-34F8-F41C-90C8E7018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Features like </a:t>
            </a:r>
            <a:r>
              <a:rPr lang="en-US" b="1" dirty="0"/>
              <a:t>Kilometer</a:t>
            </a:r>
            <a:r>
              <a:rPr lang="en-US" dirty="0"/>
              <a:t> and </a:t>
            </a:r>
            <a:r>
              <a:rPr lang="en-US" b="1" dirty="0" err="1"/>
              <a:t>QualityScore</a:t>
            </a:r>
            <a:r>
              <a:rPr lang="en-US" dirty="0"/>
              <a:t> have different ranges</a:t>
            </a:r>
          </a:p>
          <a:p>
            <a:r>
              <a:rPr lang="en-US" dirty="0"/>
              <a:t>Standardized features to improve model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705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80F9-D6D1-66A2-AB64-153E48F4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72769-5327-1168-F77C-F05D016B9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Distribution of used car prices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Comparing car age with price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Comparing fuel type with price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Transmission Type vs Price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Comparing quality score with price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Comparing owner with price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Feature correlation heatmap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86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E8A5-49A5-6177-CD7E-3DF66DCD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used car prices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CC476-5AFE-7B18-ADBD-4B3FBC771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11185"/>
            <a:ext cx="6619875" cy="41449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BAA311-4905-B601-F5DC-0E2ABAD1C9B8}"/>
              </a:ext>
            </a:extLst>
          </p:cNvPr>
          <p:cNvSpPr txBox="1"/>
          <p:nvPr/>
        </p:nvSpPr>
        <p:spPr>
          <a:xfrm>
            <a:off x="8445731" y="2975956"/>
            <a:ext cx="27099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car prices are unevenly distributed with most vehicles concentrated in the mid-price segment.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87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3BD21-9192-1563-872C-0428F0E2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Comparing car age with price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952068-F71C-615F-D72C-60E3DAEDE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90" y="1920240"/>
            <a:ext cx="6348672" cy="41613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EDD961-253F-103F-2DAA-43D78E6B765E}"/>
              </a:ext>
            </a:extLst>
          </p:cNvPr>
          <p:cNvSpPr txBox="1"/>
          <p:nvPr/>
        </p:nvSpPr>
        <p:spPr>
          <a:xfrm>
            <a:off x="7119851" y="2782669"/>
            <a:ext cx="37864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Car age shows a strong inverse relationship with price.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776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68291-D3EE-16B8-5F13-C7BC017B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Comparing fuel type with price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6A4A7-E7B0-3168-54C4-A8BF40CED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78" y="2081299"/>
            <a:ext cx="5567622" cy="3654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AE8BC2-D9BD-1607-33A9-53AF36CC72EF}"/>
              </a:ext>
            </a:extLst>
          </p:cNvPr>
          <p:cNvSpPr txBox="1"/>
          <p:nvPr/>
        </p:nvSpPr>
        <p:spPr>
          <a:xfrm>
            <a:off x="6126480" y="2431213"/>
            <a:ext cx="60932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Diesel and petrol vehicles show higher price ranges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Alternative fuels generally have lower prices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Fuel type influences resale value, with petrol and diesel cars priced higher</a:t>
            </a:r>
          </a:p>
        </p:txBody>
      </p:sp>
    </p:spTree>
    <p:extLst>
      <p:ext uri="{BB962C8B-B14F-4D97-AF65-F5344CB8AC3E}">
        <p14:creationId xmlns:p14="http://schemas.microsoft.com/office/powerpoint/2010/main" val="3210461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79481-B398-2D70-5412-D111C166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Transmission Type vs Price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01C6D0-2CCB-BBDD-7953-C10A46B7B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37" y="2402378"/>
            <a:ext cx="5154443" cy="3383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752D2E-A802-E99F-702D-98EB03EE812B}"/>
              </a:ext>
            </a:extLst>
          </p:cNvPr>
          <p:cNvSpPr txBox="1"/>
          <p:nvPr/>
        </p:nvSpPr>
        <p:spPr>
          <a:xfrm>
            <a:off x="6972159" y="2627853"/>
            <a:ext cx="4247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Transmission type impacts pricing, with automatic cars generally costing more.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7910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D632A-D3EE-0333-B552-22E62EE1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Comparing owner with price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8C6F8-6A41-909F-B8B6-11EAD4E0E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88" y="2050312"/>
            <a:ext cx="5918776" cy="38849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1C2A15-88F4-8E95-610C-675B848F5996}"/>
              </a:ext>
            </a:extLst>
          </p:cNvPr>
          <p:cNvSpPr txBox="1"/>
          <p:nvPr/>
        </p:nvSpPr>
        <p:spPr>
          <a:xfrm>
            <a:off x="7236543" y="2517058"/>
            <a:ext cx="4783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First owner type correlates highly with high price</a:t>
            </a:r>
          </a:p>
        </p:txBody>
      </p:sp>
    </p:spTree>
    <p:extLst>
      <p:ext uri="{BB962C8B-B14F-4D97-AF65-F5344CB8AC3E}">
        <p14:creationId xmlns:p14="http://schemas.microsoft.com/office/powerpoint/2010/main" val="1786562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6411-D6D0-0486-11D8-65855500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Comparing quality score with price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EEA7E-142B-D4CB-E7B7-99C54F735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18" y="1937569"/>
            <a:ext cx="6515141" cy="427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39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C088B-E901-C034-A67D-7FDEFD37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correlation heatmap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7E990-EE74-211F-AB91-71917BEED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76" y="2078182"/>
            <a:ext cx="5839433" cy="421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34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4F54-BD06-8978-DACE-A8187268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4FF87-1A49-11C3-B0E5-9F45BBBEB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Built the following models: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Linear regression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Decision tree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Random forest</a:t>
            </a:r>
          </a:p>
          <a:p>
            <a:pPr marL="0" indent="0">
              <a:buNone/>
            </a:pPr>
            <a:r>
              <a:rPr lang="en-IN" dirty="0"/>
              <a:t>Best model: Random forest</a:t>
            </a:r>
          </a:p>
        </p:txBody>
      </p:sp>
    </p:spTree>
    <p:extLst>
      <p:ext uri="{BB962C8B-B14F-4D97-AF65-F5344CB8AC3E}">
        <p14:creationId xmlns:p14="http://schemas.microsoft.com/office/powerpoint/2010/main" val="1586545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C90A-5BA4-4F26-63BD-60D82DCF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forest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BA84BA-368B-614A-B7D6-C676C96DA6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performs better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Decision Tree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MAE &amp; RMSE → better price prediction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R² → explains more variance in price</a:t>
            </a:r>
          </a:p>
        </p:txBody>
      </p:sp>
    </p:spTree>
    <p:extLst>
      <p:ext uri="{BB962C8B-B14F-4D97-AF65-F5344CB8AC3E}">
        <p14:creationId xmlns:p14="http://schemas.microsoft.com/office/powerpoint/2010/main" val="1459964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625E-BD10-2099-5973-D3FD13857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Comparing actual price with predicted price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B898C3-FBE5-A520-5695-2AFEEBEDF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1375" y="2108200"/>
            <a:ext cx="5729576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09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A15F9-8973-A0D6-08F6-EBCEF64A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Evaluation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0A262-14CF-A135-F727-8BCE1CC07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 Models evaluated using MAE, RMSE, and R²</a:t>
            </a:r>
          </a:p>
          <a:p>
            <a:r>
              <a:rPr lang="en-US" dirty="0"/>
              <a:t>Classification model evaluated using Accuracy, Precision, Recall, and F1-score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830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51CD-EA8B-2D18-D5C5-78C66F16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Evaluation Metrics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482C-90E1-0778-0D0B-3F823C29A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Mean Absolute Error (MAE)</a:t>
            </a:r>
          </a:p>
          <a:p>
            <a:r>
              <a:rPr lang="en-IN" dirty="0"/>
              <a:t>Mean Squared Error (MSE)</a:t>
            </a:r>
          </a:p>
          <a:p>
            <a:r>
              <a:rPr lang="en-IN" dirty="0"/>
              <a:t>Root Mean Squared Error (RMSE)</a:t>
            </a:r>
          </a:p>
          <a:p>
            <a:r>
              <a:rPr lang="en-IN" dirty="0"/>
              <a:t>R² 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790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D85E-A117-CFC0-083F-21BB615D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09FB-933E-DC34-C275-5A3A830A8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Model deployed using </a:t>
            </a:r>
            <a:r>
              <a:rPr lang="en-IN" dirty="0" err="1"/>
              <a:t>Streamlit</a:t>
            </a:r>
            <a:r>
              <a:rPr lang="en-IN" dirty="0"/>
              <a:t>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37882997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{AFAAF842-42BF-4530-AA1E-62E9E00B7F24}TF235124e3-e6db-4c6d-93c8-733f2fadbc609fb6f57c_win32-b1e91d96f19e</Template>
  <TotalTime>869</TotalTime>
  <Words>415</Words>
  <Application>Microsoft Office PowerPoint</Application>
  <PresentationFormat>Widescreen</PresentationFormat>
  <Paragraphs>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Georgia Pro Cond Light</vt:lpstr>
      <vt:lpstr>Speak Pro</vt:lpstr>
      <vt:lpstr>Wingdings</vt:lpstr>
      <vt:lpstr>RetrospectVTI</vt:lpstr>
      <vt:lpstr>Predicting used car prices</vt:lpstr>
      <vt:lpstr>Problem Statement </vt:lpstr>
      <vt:lpstr>UNDERSTANDING DATASET</vt:lpstr>
      <vt:lpstr>Data preprocessing</vt:lpstr>
      <vt:lpstr>Feature engineering</vt:lpstr>
      <vt:lpstr>Feature scaling </vt:lpstr>
      <vt:lpstr>Exploratory data analysis</vt:lpstr>
      <vt:lpstr>Distribution of used car prices</vt:lpstr>
      <vt:lpstr>Comparing car age with price</vt:lpstr>
      <vt:lpstr>Comparing fuel type with price</vt:lpstr>
      <vt:lpstr>Transmission Type vs Price</vt:lpstr>
      <vt:lpstr>Comparing owner with price</vt:lpstr>
      <vt:lpstr>Comparing quality score with price</vt:lpstr>
      <vt:lpstr>Feature correlation heatmap</vt:lpstr>
      <vt:lpstr>Model building</vt:lpstr>
      <vt:lpstr>Random forest</vt:lpstr>
      <vt:lpstr>Comparing actual price with predicted price</vt:lpstr>
      <vt:lpstr>Model Evaluation </vt:lpstr>
      <vt:lpstr>Evaluation Metrics </vt:lpstr>
      <vt:lpstr>Model deployment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gami</dc:creator>
  <cp:lastModifiedBy>Shiva gami</cp:lastModifiedBy>
  <cp:revision>6</cp:revision>
  <dcterms:created xsi:type="dcterms:W3CDTF">2026-01-31T15:51:55Z</dcterms:created>
  <dcterms:modified xsi:type="dcterms:W3CDTF">2026-02-06T14:41:02Z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